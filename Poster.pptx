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6"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75" autoAdjust="0"/>
    <p:restoredTop sz="94660"/>
  </p:normalViewPr>
  <p:slideViewPr>
    <p:cSldViewPr snapToGrid="0" showGuides="1">
      <p:cViewPr varScale="1">
        <p:scale>
          <a:sx n="108" d="100"/>
          <a:sy n="108" d="100"/>
        </p:scale>
        <p:origin x="2184" y="216"/>
      </p:cViewPr>
      <p:guideLst>
        <p:guide orient="horz" pos="3126"/>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p:cNvSpPr>
            <a:spLocks noGrp="1"/>
          </p:cNvSpPr>
          <p:nvPr>
            <p:ph type="dt" sz="half" idx="10"/>
          </p:nvPr>
        </p:nvSpPr>
        <p:spPr/>
        <p:txBody>
          <a:bodyPr/>
          <a:lstStyle/>
          <a:p>
            <a:fld id="{E95511AC-980B-485A-851E-DBD0B8F4CBAD}" type="datetimeFigureOut">
              <a:rPr lang="en-US" smtClean="0"/>
              <a:t>1/31/26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1/31/26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dirty="0"/>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E95511AC-980B-485A-851E-DBD0B8F4CBAD}" type="datetimeFigureOut">
              <a:rPr lang="en-US" smtClean="0"/>
              <a:t>1/31/26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95511AC-980B-485A-851E-DBD0B8F4CBAD}" type="datetimeFigureOut">
              <a:rPr lang="en-US" smtClean="0"/>
              <a:t>1/31/26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dirty="0"/>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95511AC-980B-485A-851E-DBD0B8F4CBAD}" type="datetimeFigureOut">
              <a:rPr lang="en-US" smtClean="0"/>
              <a:t>1/31/26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E95511AC-980B-485A-851E-DBD0B8F4CBAD}" type="datetimeFigureOut">
              <a:rPr lang="en-US" smtClean="0"/>
              <a:t>1/31/26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511AC-980B-485A-851E-DBD0B8F4CBAD}" type="datetimeFigureOut">
              <a:rPr lang="en-US" smtClean="0"/>
              <a:t>1/31/26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1/31/26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1/31/26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1/31/26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1/31/26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95511AC-980B-485A-851E-DBD0B8F4CBAD}" type="datetimeFigureOut">
              <a:rPr lang="en-US" smtClean="0"/>
              <a:t>1/31/26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6A2BFA2-7CEB-4D76-9663-917F13DE4B1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3" Type="http://schemas.openxmlformats.org/officeDocument/2006/relationships/tags" Target="../tags/tag3.xml"/><Relationship Id="rId7" Type="http://schemas.openxmlformats.org/officeDocument/2006/relationships/image" Target="../media/image3.png"/><Relationship Id="rId12" Type="http://schemas.openxmlformats.org/officeDocument/2006/relationships/image" Target="../media/image8.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11" Type="http://schemas.openxmlformats.org/officeDocument/2006/relationships/image" Target="../media/image7.png"/><Relationship Id="rId5" Type="http://schemas.openxmlformats.org/officeDocument/2006/relationships/image" Target="../media/image1.png"/><Relationship Id="rId10" Type="http://schemas.openxmlformats.org/officeDocument/2006/relationships/image" Target="../media/image6.png"/><Relationship Id="rId4" Type="http://schemas.openxmlformats.org/officeDocument/2006/relationships/slideLayout" Target="../slideLayouts/slideLayout1.xml"/><Relationship Id="rId9" Type="http://schemas.openxmlformats.org/officeDocument/2006/relationships/image" Target="../media/image5.pn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45"/>
          <p:cNvGrpSpPr/>
          <p:nvPr/>
        </p:nvGrpSpPr>
        <p:grpSpPr>
          <a:xfrm>
            <a:off x="6009740" y="1966271"/>
            <a:ext cx="683266" cy="213995"/>
            <a:chOff x="6071533" y="2181217"/>
            <a:chExt cx="683266" cy="216531"/>
          </a:xfrm>
        </p:grpSpPr>
        <p:sp>
          <p:nvSpPr>
            <p:cNvPr id="43" name="TextBox 42"/>
            <p:cNvSpPr txBox="1"/>
            <p:nvPr/>
          </p:nvSpPr>
          <p:spPr>
            <a:xfrm>
              <a:off x="6105590" y="2181217"/>
              <a:ext cx="649209" cy="216531"/>
            </a:xfrm>
            <a:prstGeom prst="rect">
              <a:avLst/>
            </a:prstGeom>
            <a:noFill/>
          </p:spPr>
          <p:txBody>
            <a:bodyPr wrap="square">
              <a:spAutoFit/>
            </a:bodyPr>
            <a:lstStyle/>
            <a:p>
              <a:pPr algn="ctr"/>
              <a:r>
                <a:rPr lang="en-US" sz="800" b="1" dirty="0" err="1">
                  <a:latin typeface="Arial" panose="020B0604020202020204" pitchFamily="34" charset="0"/>
                  <a:cs typeface="Arial" panose="020B0604020202020204" pitchFamily="34" charset="0"/>
                </a:rPr>
                <a:t>Github</a:t>
              </a:r>
            </a:p>
          </p:txBody>
        </p:sp>
        <p:pic>
          <p:nvPicPr>
            <p:cNvPr id="1028" name="Picture 4" descr="Github Logo - Free social media icon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36" name="Table 35"/>
          <p:cNvGraphicFramePr>
            <a:graphicFrameLocks noGrp="1"/>
          </p:cNvGraphicFramePr>
          <p:nvPr>
            <p:custDataLst>
              <p:tags r:id="rId1"/>
            </p:custDataLst>
            <p:extLst>
              <p:ext uri="{D42A27DB-BD31-4B8C-83A1-F6EECF244321}">
                <p14:modId xmlns:p14="http://schemas.microsoft.com/office/powerpoint/2010/main" val="2857066230"/>
              </p:ext>
            </p:extLst>
          </p:nvPr>
        </p:nvGraphicFramePr>
        <p:xfrm>
          <a:off x="71755" y="2356484"/>
          <a:ext cx="3890645" cy="2321379"/>
        </p:xfrm>
        <a:graphic>
          <a:graphicData uri="http://schemas.openxmlformats.org/drawingml/2006/table">
            <a:tbl>
              <a:tblPr firstRow="1" bandRow="1">
                <a:tableStyleId>{5C22544A-7EE6-4342-B048-85BDC9FD1C3A}</a:tableStyleId>
              </a:tblPr>
              <a:tblGrid>
                <a:gridCol w="3890645">
                  <a:extLst>
                    <a:ext uri="{9D8B030D-6E8A-4147-A177-3AD203B41FA5}">
                      <a16:colId xmlns:a16="http://schemas.microsoft.com/office/drawing/2014/main" val="20000"/>
                    </a:ext>
                  </a:extLst>
                </a:gridCol>
              </a:tblGrid>
              <a:tr h="24716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dirty="0" err="1">
                          <a:solidFill>
                            <a:schemeClr val="bg1"/>
                          </a:solidFill>
                          <a:latin typeface="Arial" panose="020B0604020202020204" pitchFamily="34" charset="0"/>
                          <a:cs typeface="Arial" panose="020B0604020202020204" pitchFamily="34" charset="0"/>
                        </a:rPr>
                        <a:t>Giới</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thiệu</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10000"/>
                  </a:ext>
                </a:extLst>
              </a:tr>
              <a:tr h="2074219">
                <a:tc>
                  <a:txBody>
                    <a:bodyPr/>
                    <a:lstStyle/>
                    <a:p>
                      <a:pPr marL="0" marR="0" indent="0" algn="just" defTabSz="685800" rtl="0" eaLnBrk="1" fontAlgn="auto" latinLnBrk="0" hangingPunct="1">
                        <a:lnSpc>
                          <a:spcPct val="150000"/>
                        </a:lnSpc>
                        <a:spcBef>
                          <a:spcPts val="0"/>
                        </a:spcBef>
                        <a:spcAft>
                          <a:spcPts val="0"/>
                        </a:spcAft>
                        <a:buClrTx/>
                        <a:buSzTx/>
                        <a:buFontTx/>
                        <a:buNone/>
                        <a:tabLst/>
                        <a:defRPr/>
                      </a:pPr>
                      <a:r>
                        <a:rPr lang="vi-VN" altLang="en-US" sz="900" dirty="0">
                          <a:latin typeface="Times New Roman" panose="02020603050405020304" charset="0"/>
                          <a:cs typeface="Times New Roman" panose="02020603050405020304" charset="0"/>
                        </a:rPr>
                        <a:t>Hệ thống giúp quản lý tập trung nhân sự, khách hàng và văn bản trong doanh nghiệp, nâng cao hiệu quả quản trị, chăm sóc khách hàng và kiểm soát quy trình. Chức năng chính: </a:t>
                      </a:r>
                    </a:p>
                    <a:p>
                      <a:pPr marL="171450" marR="0" indent="-171450" algn="just" defTabSz="6858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vi-VN" altLang="en-US" sz="900" dirty="0">
                          <a:latin typeface="Times New Roman" panose="02020603050405020304" charset="0"/>
                          <a:cs typeface="Times New Roman" panose="02020603050405020304" charset="0"/>
                        </a:rPr>
                        <a:t>Quản lý nhân sự: Lưu trữ, phân loại, theo dõi hồ sơ, hợp đồng, nghỉ phép. </a:t>
                      </a:r>
                    </a:p>
                    <a:p>
                      <a:pPr marL="171450" marR="0" indent="-171450" algn="just" defTabSz="6858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vi-VN" altLang="en-US" sz="900" dirty="0">
                          <a:latin typeface="Times New Roman" panose="02020603050405020304" charset="0"/>
                          <a:cs typeface="Times New Roman" panose="02020603050405020304" charset="0"/>
                        </a:rPr>
                        <a:t>Quản lý khách hàng: Lưu trữ, phân loại, theo dõi giao dịch, chăm sóc khách hàng. </a:t>
                      </a:r>
                    </a:p>
                    <a:p>
                      <a:pPr marL="171450" marR="0" indent="-171450" algn="just" defTabSz="6858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vi-VN" altLang="en-US" sz="900" dirty="0">
                          <a:latin typeface="Times New Roman" panose="02020603050405020304" charset="0"/>
                          <a:cs typeface="Times New Roman" panose="02020603050405020304" charset="0"/>
                        </a:rPr>
                        <a:t>Quản lý văn bản: Quản lý văn bản đến/đi, lưu trữ, tìm kiếm, theo dõi xử lý. </a:t>
                      </a:r>
                    </a:p>
                    <a:p>
                      <a:pPr marL="171450" marR="0" indent="-171450" algn="just" defTabSz="6858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vi-VN" altLang="en-US" sz="900" dirty="0">
                          <a:latin typeface="Times New Roman" panose="02020603050405020304" charset="0"/>
                          <a:cs typeface="Times New Roman" panose="02020603050405020304" charset="0"/>
                        </a:rPr>
                        <a:t>Liên kết dữ liệu: Kết nối thông tin nhân sự, khách hàng với văn bản, hỗ trợ thống kê, ra quyết định.</a:t>
                      </a:r>
                      <a:endParaRPr lang="en-US" altLang="en-US" sz="900" dirty="0">
                        <a:latin typeface="Times New Roman" panose="02020603050405020304" charset="0"/>
                        <a:cs typeface="Times New Roman" panose="020206030504050203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nvGraphicFramePr>
        <p:xfrm>
          <a:off x="4027805" y="2360295"/>
          <a:ext cx="2789555" cy="1827530"/>
        </p:xfrm>
        <a:graphic>
          <a:graphicData uri="http://schemas.openxmlformats.org/drawingml/2006/table">
            <a:tbl>
              <a:tblPr firstRow="1" bandRow="1">
                <a:tableStyleId>{5C22544A-7EE6-4342-B048-85BDC9FD1C3A}</a:tableStyleId>
              </a:tblPr>
              <a:tblGrid>
                <a:gridCol w="2789555">
                  <a:extLst>
                    <a:ext uri="{9D8B030D-6E8A-4147-A177-3AD203B41FA5}">
                      <a16:colId xmlns:a16="http://schemas.microsoft.com/office/drawing/2014/main" val="20000"/>
                    </a:ext>
                  </a:extLst>
                </a:gridCol>
              </a:tblGrid>
              <a:tr h="24384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a:solidFill>
                            <a:schemeClr val="bg1"/>
                          </a:solidFill>
                          <a:latin typeface="Arial" panose="020B0604020202020204" pitchFamily="34" charset="0"/>
                          <a:cs typeface="Arial" panose="020B0604020202020204" pitchFamily="34" charset="0"/>
                        </a:rPr>
                        <a:t>Kiến trúc hệ thống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10000"/>
                  </a:ext>
                </a:extLst>
              </a:tr>
              <a:tr h="158369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pSp>
        <p:nvGrpSpPr>
          <p:cNvPr id="70" name="Group 69"/>
          <p:cNvGrpSpPr/>
          <p:nvPr/>
        </p:nvGrpSpPr>
        <p:grpSpPr>
          <a:xfrm>
            <a:off x="0" y="-39866"/>
            <a:ext cx="6858000" cy="2289646"/>
            <a:chOff x="0" y="-40063"/>
            <a:chExt cx="6858000" cy="2289646"/>
          </a:xfrm>
        </p:grpSpPr>
        <p:grpSp>
          <p:nvGrpSpPr>
            <p:cNvPr id="27" name="Group 26"/>
            <p:cNvGrpSpPr/>
            <p:nvPr/>
          </p:nvGrpSpPr>
          <p:grpSpPr>
            <a:xfrm>
              <a:off x="0" y="-40063"/>
              <a:ext cx="6858000" cy="1149907"/>
              <a:chOff x="0" y="-40063"/>
              <a:chExt cx="6858000" cy="1149907"/>
            </a:xfrm>
          </p:grpSpPr>
          <p:pic>
            <p:nvPicPr>
              <p:cNvPr id="39" name="Picture 38"/>
              <p:cNvPicPr>
                <a:picLocks noChangeAspect="1"/>
              </p:cNvPicPr>
              <p:nvPr/>
            </p:nvPicPr>
            <p:blipFill>
              <a:blip r:embed="rId6"/>
              <a:stretch>
                <a:fillRect/>
              </a:stretch>
            </p:blipFill>
            <p:spPr>
              <a:xfrm>
                <a:off x="0" y="-1275"/>
                <a:ext cx="6858000" cy="1111119"/>
              </a:xfrm>
              <a:prstGeom prst="rect">
                <a:avLst/>
              </a:prstGeom>
            </p:spPr>
          </p:pic>
          <p:sp>
            <p:nvSpPr>
              <p:cNvPr id="40" name="TextBox 39"/>
              <p:cNvSpPr txBox="1"/>
              <p:nvPr/>
            </p:nvSpPr>
            <p:spPr>
              <a:xfrm>
                <a:off x="2467068" y="-40063"/>
                <a:ext cx="1935145" cy="369332"/>
              </a:xfrm>
              <a:prstGeom prst="rect">
                <a:avLst/>
              </a:prstGeom>
              <a:noFill/>
            </p:spPr>
            <p:txBody>
              <a:bodyPr wrap="none" rtlCol="0">
                <a:spAutoFit/>
              </a:bodyPr>
              <a:lstStyle/>
              <a:p>
                <a:pPr algn="ctr"/>
                <a:r>
                  <a:rPr lang="en-US" sz="900" b="1" dirty="0">
                    <a:solidFill>
                      <a:schemeClr val="bg1"/>
                    </a:solidFill>
                    <a:latin typeface="Arial" panose="020B0604020202020204" pitchFamily="34" charset="0"/>
                    <a:cs typeface="Arial" panose="020B0604020202020204" pitchFamily="34" charset="0"/>
                  </a:rPr>
                  <a:t>TRƯỜNG ĐẠI HỌC ĐẠI NAM</a:t>
                </a:r>
              </a:p>
              <a:p>
                <a:pPr algn="ctr"/>
                <a:r>
                  <a:rPr lang="en-US" sz="900" b="1" dirty="0">
                    <a:solidFill>
                      <a:schemeClr val="bg1"/>
                    </a:solidFill>
                    <a:latin typeface="Arial" panose="020B0604020202020204" pitchFamily="34" charset="0"/>
                    <a:cs typeface="Arial" panose="020B0604020202020204" pitchFamily="34" charset="0"/>
                  </a:rPr>
                  <a:t>KHOA CÔNG NGHỆ THÔNG TIN</a:t>
                </a:r>
              </a:p>
            </p:txBody>
          </p:sp>
        </p:grpSp>
        <p:grpSp>
          <p:nvGrpSpPr>
            <p:cNvPr id="65" name="Group 64"/>
            <p:cNvGrpSpPr/>
            <p:nvPr/>
          </p:nvGrpSpPr>
          <p:grpSpPr>
            <a:xfrm>
              <a:off x="0" y="1082578"/>
              <a:ext cx="6858000" cy="1167005"/>
              <a:chOff x="0" y="1082578"/>
              <a:chExt cx="6858000" cy="1167005"/>
            </a:xfrm>
          </p:grpSpPr>
          <p:sp>
            <p:nvSpPr>
              <p:cNvPr id="5" name="Title 1"/>
              <p:cNvSpPr txBox="1"/>
              <p:nvPr/>
            </p:nvSpPr>
            <p:spPr>
              <a:xfrm>
                <a:off x="0" y="1082578"/>
                <a:ext cx="6765928" cy="329891"/>
              </a:xfrm>
              <a:prstGeom prst="rect">
                <a:avLst/>
              </a:prstGeom>
            </p:spPr>
            <p:txBody>
              <a:bodyPr vert="horz" lIns="20299" tIns="10150" rIns="20299" bIns="10150" rtlCol="0" anchor="ctr">
                <a:noAutofit/>
              </a:bodyPr>
              <a:lstStyle>
                <a:lvl1pPr algn="ctr" defTabSz="2880360" rtl="0" eaLnBrk="1" latinLnBrk="0" hangingPunct="1">
                  <a:lnSpc>
                    <a:spcPct val="90000"/>
                  </a:lnSpc>
                  <a:spcBef>
                    <a:spcPct val="0"/>
                  </a:spcBef>
                  <a:buNone/>
                  <a:defRPr sz="18900" kern="1200">
                    <a:solidFill>
                      <a:schemeClr val="tx1"/>
                    </a:solidFill>
                    <a:latin typeface="+mj-lt"/>
                    <a:ea typeface="+mj-ea"/>
                    <a:cs typeface="+mj-cs"/>
                  </a:defRPr>
                </a:lvl1pPr>
              </a:lstStyle>
              <a:p>
                <a:r>
                  <a:rPr lang="en-US" sz="1200" b="1" dirty="0" err="1">
                    <a:solidFill>
                      <a:schemeClr val="accent2"/>
                    </a:solidFill>
                    <a:latin typeface="Arial" panose="020B0604020202020204" pitchFamily="34" charset="0"/>
                    <a:cs typeface="Arial" panose="020B0604020202020204" pitchFamily="34" charset="0"/>
                  </a:rPr>
                  <a:t>ERP: HỆ THỐNG QUẢN LÝ</a:t>
                </a:r>
                <a:r>
                  <a:rPr lang="vi-VN" altLang="en-US" sz="1200" b="1" dirty="0" err="1">
                    <a:solidFill>
                      <a:schemeClr val="accent2"/>
                    </a:solidFill>
                    <a:latin typeface="Arial" panose="020B0604020202020204" pitchFamily="34" charset="0"/>
                    <a:cs typeface="Arial" panose="020B0604020202020204" pitchFamily="34" charset="0"/>
                  </a:rPr>
                  <a:t> NHÂN SỰ, KHÁCH HÀNG VÀ VĂN BẢN </a:t>
                </a:r>
              </a:p>
            </p:txBody>
          </p:sp>
          <p:sp>
            <p:nvSpPr>
              <p:cNvPr id="6" name="Rectangle 5"/>
              <p:cNvSpPr/>
              <p:nvPr/>
            </p:nvSpPr>
            <p:spPr>
              <a:xfrm>
                <a:off x="0" y="1337994"/>
                <a:ext cx="6858000" cy="14559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vi-VN" altLang="en-US" sz="800" b="1" dirty="0"/>
                  <a:t>Nguyễn Thị Viết Lợi, Trần Phương Anh, Nguyễn Thị Mai Lan</a:t>
                </a:r>
              </a:p>
            </p:txBody>
          </p:sp>
          <p:pic>
            <p:nvPicPr>
              <p:cNvPr id="63" name="Picture 62"/>
              <p:cNvPicPr>
                <a:picLocks noChangeAspect="1"/>
              </p:cNvPicPr>
              <p:nvPr/>
            </p:nvPicPr>
            <p:blipFill>
              <a:blip r:embed="rId7"/>
              <a:stretch>
                <a:fillRect/>
              </a:stretch>
            </p:blipFill>
            <p:spPr>
              <a:xfrm>
                <a:off x="2620895" y="1512206"/>
                <a:ext cx="1616210" cy="737377"/>
              </a:xfrm>
              <a:prstGeom prst="rect">
                <a:avLst/>
              </a:prstGeom>
            </p:spPr>
          </p:pic>
        </p:grpSp>
      </p:grpSp>
      <p:graphicFrame>
        <p:nvGraphicFramePr>
          <p:cNvPr id="73" name="Table 72"/>
          <p:cNvGraphicFramePr>
            <a:graphicFrameLocks noGrp="1"/>
          </p:cNvGraphicFramePr>
          <p:nvPr/>
        </p:nvGraphicFramePr>
        <p:xfrm>
          <a:off x="4027805" y="4267835"/>
          <a:ext cx="2789555" cy="1925955"/>
        </p:xfrm>
        <a:graphic>
          <a:graphicData uri="http://schemas.openxmlformats.org/drawingml/2006/table">
            <a:tbl>
              <a:tblPr firstRow="1" bandRow="1">
                <a:tableStyleId>{5C22544A-7EE6-4342-B048-85BDC9FD1C3A}</a:tableStyleId>
              </a:tblPr>
              <a:tblGrid>
                <a:gridCol w="2789555">
                  <a:extLst>
                    <a:ext uri="{9D8B030D-6E8A-4147-A177-3AD203B41FA5}">
                      <a16:colId xmlns:a16="http://schemas.microsoft.com/office/drawing/2014/main" val="20000"/>
                    </a:ext>
                  </a:extLst>
                </a:gridCol>
              </a:tblGrid>
              <a:tr h="255905">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a:solidFill>
                            <a:schemeClr val="bg1"/>
                          </a:solidFill>
                          <a:latin typeface="Arial" panose="020B0604020202020204" pitchFamily="34" charset="0"/>
                          <a:cs typeface="Arial" panose="020B0604020202020204" pitchFamily="34" charset="0"/>
                        </a:rPr>
                        <a:t>Công nghệ sử dụng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10000"/>
                  </a:ext>
                </a:extLst>
              </a:tr>
              <a:tr h="1670050">
                <a:tc>
                  <a:txBody>
                    <a:bodyPr/>
                    <a:lstStyle/>
                    <a:p>
                      <a:pPr algn="just"/>
                      <a:endParaRPr lang="vi-VN" sz="900">
                        <a:latin typeface="Arial" panose="020B0604020202020204" pitchFamily="34" charset="0"/>
                        <a:cs typeface="Arial Hebrew Schol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72" name="Picture 71"/>
          <p:cNvPicPr>
            <a:picLocks noChangeAspect="1"/>
          </p:cNvPicPr>
          <p:nvPr/>
        </p:nvPicPr>
        <p:blipFill>
          <a:blip r:embed="rId8"/>
          <a:stretch>
            <a:fillRect/>
          </a:stretch>
        </p:blipFill>
        <p:spPr>
          <a:xfrm>
            <a:off x="4223385" y="4723765"/>
            <a:ext cx="2378075" cy="1392555"/>
          </a:xfrm>
          <a:prstGeom prst="rect">
            <a:avLst/>
          </a:prstGeom>
        </p:spPr>
      </p:pic>
      <p:graphicFrame>
        <p:nvGraphicFramePr>
          <p:cNvPr id="82" name="Table 81"/>
          <p:cNvGraphicFramePr>
            <a:graphicFrameLocks noGrp="1"/>
          </p:cNvGraphicFramePr>
          <p:nvPr>
            <p:custDataLst>
              <p:tags r:id="rId2"/>
            </p:custDataLst>
            <p:extLst>
              <p:ext uri="{D42A27DB-BD31-4B8C-83A1-F6EECF244321}">
                <p14:modId xmlns:p14="http://schemas.microsoft.com/office/powerpoint/2010/main" val="761785074"/>
              </p:ext>
            </p:extLst>
          </p:nvPr>
        </p:nvGraphicFramePr>
        <p:xfrm>
          <a:off x="71755" y="4746709"/>
          <a:ext cx="3890645" cy="4978688"/>
        </p:xfrm>
        <a:graphic>
          <a:graphicData uri="http://schemas.openxmlformats.org/drawingml/2006/table">
            <a:tbl>
              <a:tblPr firstRow="1" bandRow="1">
                <a:tableStyleId>{5C22544A-7EE6-4342-B048-85BDC9FD1C3A}</a:tableStyleId>
              </a:tblPr>
              <a:tblGrid>
                <a:gridCol w="3890645">
                  <a:extLst>
                    <a:ext uri="{9D8B030D-6E8A-4147-A177-3AD203B41FA5}">
                      <a16:colId xmlns:a16="http://schemas.microsoft.com/office/drawing/2014/main" val="20000"/>
                    </a:ext>
                  </a:extLst>
                </a:gridCol>
              </a:tblGrid>
              <a:tr h="397343">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dirty="0">
                          <a:solidFill>
                            <a:schemeClr val="bg1"/>
                          </a:solidFill>
                          <a:latin typeface="Arial" panose="020B0604020202020204" pitchFamily="34" charset="0"/>
                          <a:cs typeface="Arial" panose="020B0604020202020204" pitchFamily="34" charset="0"/>
                        </a:rPr>
                        <a:t>Giao </a:t>
                      </a:r>
                      <a:r>
                        <a:rPr lang="en-US" sz="1000" b="1" dirty="0" err="1">
                          <a:solidFill>
                            <a:schemeClr val="bg1"/>
                          </a:solidFill>
                          <a:latin typeface="Arial" panose="020B0604020202020204" pitchFamily="34" charset="0"/>
                          <a:cs typeface="Arial" panose="020B0604020202020204" pitchFamily="34" charset="0"/>
                        </a:rPr>
                        <a:t>diện</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ứng</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dụng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10000"/>
                  </a:ext>
                </a:extLst>
              </a:tr>
              <a:tr h="4581345">
                <a:tc>
                  <a: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89" name="Table 88"/>
          <p:cNvGraphicFramePr>
            <a:graphicFrameLocks noGrp="1"/>
          </p:cNvGraphicFramePr>
          <p:nvPr/>
        </p:nvGraphicFramePr>
        <p:xfrm>
          <a:off x="4027805" y="6273165"/>
          <a:ext cx="2789555" cy="1473835"/>
        </p:xfrm>
        <a:graphic>
          <a:graphicData uri="http://schemas.openxmlformats.org/drawingml/2006/table">
            <a:tbl>
              <a:tblPr firstRow="1" bandRow="1">
                <a:tableStyleId>{5C22544A-7EE6-4342-B048-85BDC9FD1C3A}</a:tableStyleId>
              </a:tblPr>
              <a:tblGrid>
                <a:gridCol w="2789555">
                  <a:extLst>
                    <a:ext uri="{9D8B030D-6E8A-4147-A177-3AD203B41FA5}">
                      <a16:colId xmlns:a16="http://schemas.microsoft.com/office/drawing/2014/main" val="20000"/>
                    </a:ext>
                  </a:extLst>
                </a:gridCol>
              </a:tblGrid>
              <a:tr h="252095">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dirty="0">
                          <a:solidFill>
                            <a:schemeClr val="bg1"/>
                          </a:solidFill>
                          <a:latin typeface="Arial" panose="020B0604020202020204" pitchFamily="34" charset="0"/>
                          <a:cs typeface="Arial" panose="020B0604020202020204" pitchFamily="34" charset="0"/>
                        </a:rPr>
                        <a:t>Platform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10000"/>
                  </a:ext>
                </a:extLst>
              </a:tr>
              <a:tr h="12217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90" name="Table 89"/>
          <p:cNvGraphicFramePr>
            <a:graphicFrameLocks noGrp="1"/>
          </p:cNvGraphicFramePr>
          <p:nvPr>
            <p:custDataLst>
              <p:tags r:id="rId3"/>
            </p:custDataLst>
          </p:nvPr>
        </p:nvGraphicFramePr>
        <p:xfrm>
          <a:off x="4027805" y="7820660"/>
          <a:ext cx="2789555" cy="1878330"/>
        </p:xfrm>
        <a:graphic>
          <a:graphicData uri="http://schemas.openxmlformats.org/drawingml/2006/table">
            <a:tbl>
              <a:tblPr firstRow="1" bandRow="1">
                <a:tableStyleId>{5C22544A-7EE6-4342-B048-85BDC9FD1C3A}</a:tableStyleId>
              </a:tblPr>
              <a:tblGrid>
                <a:gridCol w="2789555">
                  <a:extLst>
                    <a:ext uri="{9D8B030D-6E8A-4147-A177-3AD203B41FA5}">
                      <a16:colId xmlns:a16="http://schemas.microsoft.com/office/drawing/2014/main" val="20000"/>
                    </a:ext>
                  </a:extLst>
                </a:gridCol>
              </a:tblGrid>
              <a:tr h="25400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dirty="0" err="1">
                          <a:solidFill>
                            <a:schemeClr val="bg1"/>
                          </a:solidFill>
                          <a:latin typeface="Arial" panose="020B0604020202020204" pitchFamily="34" charset="0"/>
                          <a:cs typeface="Arial" panose="020B0604020202020204" pitchFamily="34" charset="0"/>
                        </a:rPr>
                        <a:t>Hướng</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phát</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triển</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10000"/>
                  </a:ext>
                </a:extLst>
              </a:tr>
              <a:tr h="1624330">
                <a:tc>
                  <a:txBody>
                    <a:bodyPr/>
                    <a:lstStyle/>
                    <a:p>
                      <a:endParaRPr lang="en-US" altLang="en-US"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92" name="TextBox 91"/>
          <p:cNvSpPr txBox="1"/>
          <p:nvPr/>
        </p:nvSpPr>
        <p:spPr>
          <a:xfrm>
            <a:off x="3943438" y="9666235"/>
            <a:ext cx="2958439" cy="215444"/>
          </a:xfrm>
          <a:prstGeom prst="rect">
            <a:avLst/>
          </a:prstGeom>
          <a:noFill/>
        </p:spPr>
        <p:txBody>
          <a:bodyPr wrap="square">
            <a:spAutoFit/>
          </a:bodyPr>
          <a:lstStyle/>
          <a:p>
            <a:pPr algn="ctr"/>
            <a:r>
              <a:rPr lang="en-US" sz="750" dirty="0">
                <a:latin typeface="Arial" panose="020B0604020202020204" pitchFamily="34" charset="0"/>
                <a:cs typeface="Arial Hebrew Scholar"/>
              </a:rPr>
              <a:t>©</a:t>
            </a:r>
            <a:r>
              <a:rPr lang="en-US" sz="750" dirty="0" err="1">
                <a:latin typeface="Arial" panose="020B0604020202020204" pitchFamily="34" charset="0"/>
                <a:cs typeface="Arial Hebrew Scholar"/>
              </a:rPr>
              <a:t>AIoTLab</a:t>
            </a:r>
            <a:r>
              <a:rPr lang="en-US" sz="750" dirty="0">
                <a:latin typeface="Arial" panose="020B0604020202020204" pitchFamily="34" charset="0"/>
                <a:cs typeface="Arial Hebrew Scholar"/>
              </a:rPr>
              <a:t>, Faculty of Information Technology, </a:t>
            </a:r>
            <a:r>
              <a:rPr lang="en-US" sz="750" dirty="0" err="1">
                <a:latin typeface="Arial" panose="020B0604020202020204" pitchFamily="34" charset="0"/>
                <a:cs typeface="Arial Hebrew Scholar"/>
              </a:rPr>
              <a:t>DaiNam</a:t>
            </a:r>
            <a:r>
              <a:rPr lang="en-US" sz="750" dirty="0">
                <a:latin typeface="Arial" panose="020B0604020202020204" pitchFamily="34" charset="0"/>
                <a:cs typeface="Arial Hebrew Scholar"/>
              </a:rPr>
              <a:t> University</a:t>
            </a:r>
          </a:p>
        </p:txBody>
      </p:sp>
      <p:grpSp>
        <p:nvGrpSpPr>
          <p:cNvPr id="1024" name="Group 1023"/>
          <p:cNvGrpSpPr/>
          <p:nvPr/>
        </p:nvGrpSpPr>
        <p:grpSpPr>
          <a:xfrm>
            <a:off x="4495224" y="7364207"/>
            <a:ext cx="683266" cy="361393"/>
            <a:chOff x="6071533" y="2197843"/>
            <a:chExt cx="683266" cy="365675"/>
          </a:xfrm>
        </p:grpSpPr>
        <p:sp>
          <p:nvSpPr>
            <p:cNvPr id="1025" name="TextBox 1024"/>
            <p:cNvSpPr txBox="1"/>
            <p:nvPr/>
          </p:nvSpPr>
          <p:spPr>
            <a:xfrm>
              <a:off x="6105590" y="2222338"/>
              <a:ext cx="649209" cy="341180"/>
            </a:xfrm>
            <a:prstGeom prst="rect">
              <a:avLst/>
            </a:prstGeom>
            <a:noFill/>
          </p:spPr>
          <p:txBody>
            <a:bodyPr wrap="square">
              <a:spAutoFit/>
            </a:bodyPr>
            <a:lstStyle/>
            <a:p>
              <a:pPr algn="ctr"/>
              <a:r>
                <a:rPr lang="en-US" sz="800" b="1" dirty="0" err="1">
                  <a:latin typeface="Arial" panose="020B0604020202020204" pitchFamily="34" charset="0"/>
                  <a:cs typeface="Arial" panose="020B0604020202020204" pitchFamily="34" charset="0"/>
                </a:rPr>
                <a:t>Github</a:t>
              </a:r>
              <a:r>
                <a:rPr lang="en-US" sz="800" b="1" dirty="0">
                  <a:latin typeface="Arial" panose="020B0604020202020204" pitchFamily="34" charset="0"/>
                  <a:cs typeface="Arial" panose="020B0604020202020204" pitchFamily="34" charset="0"/>
                </a:rPr>
                <a:t> Platform</a:t>
              </a:r>
            </a:p>
          </p:txBody>
        </p:sp>
        <p:pic>
          <p:nvPicPr>
            <p:cNvPr id="1026" name="Picture 4" descr="Github Logo - Free social media icon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35" name="Group 1034"/>
          <p:cNvGrpSpPr/>
          <p:nvPr/>
        </p:nvGrpSpPr>
        <p:grpSpPr>
          <a:xfrm>
            <a:off x="5589943" y="6649720"/>
            <a:ext cx="725093" cy="1025825"/>
            <a:chOff x="5729861" y="6934721"/>
            <a:chExt cx="725093" cy="1025825"/>
          </a:xfrm>
        </p:grpSpPr>
        <p:pic>
          <p:nvPicPr>
            <p:cNvPr id="1029" name="Picture 1028"/>
            <p:cNvPicPr>
              <a:picLocks noChangeAspect="1"/>
            </p:cNvPicPr>
            <p:nvPr/>
          </p:nvPicPr>
          <p:blipFill>
            <a:blip r:embed="rId9"/>
            <a:stretch>
              <a:fillRect/>
            </a:stretch>
          </p:blipFill>
          <p:spPr>
            <a:xfrm>
              <a:off x="5729861" y="6934721"/>
              <a:ext cx="658860" cy="648000"/>
            </a:xfrm>
            <a:prstGeom prst="rect">
              <a:avLst/>
            </a:prstGeom>
          </p:spPr>
        </p:pic>
        <p:grpSp>
          <p:nvGrpSpPr>
            <p:cNvPr id="1031" name="Group 1030"/>
            <p:cNvGrpSpPr/>
            <p:nvPr/>
          </p:nvGrpSpPr>
          <p:grpSpPr>
            <a:xfrm>
              <a:off x="5771688" y="7623361"/>
              <a:ext cx="683266" cy="337185"/>
              <a:chOff x="6071533" y="2191497"/>
              <a:chExt cx="683266" cy="341181"/>
            </a:xfrm>
          </p:grpSpPr>
          <p:sp>
            <p:nvSpPr>
              <p:cNvPr id="1032" name="TextBox 1031"/>
              <p:cNvSpPr txBox="1"/>
              <p:nvPr/>
            </p:nvSpPr>
            <p:spPr>
              <a:xfrm>
                <a:off x="6105590" y="2191497"/>
                <a:ext cx="649209" cy="341181"/>
              </a:xfrm>
              <a:prstGeom prst="rect">
                <a:avLst/>
              </a:prstGeom>
              <a:noFill/>
            </p:spPr>
            <p:txBody>
              <a:bodyPr wrap="square">
                <a:spAutoFit/>
              </a:bodyPr>
              <a:lstStyle/>
              <a:p>
                <a:pPr algn="ctr"/>
                <a:r>
                  <a:rPr lang="en-US" sz="800" b="1" dirty="0" err="1">
                    <a:latin typeface="Arial" panose="020B0604020202020204" pitchFamily="34" charset="0"/>
                    <a:cs typeface="Arial" panose="020B0604020202020204" pitchFamily="34" charset="0"/>
                  </a:rPr>
                  <a:t>Github</a:t>
                </a:r>
                <a:r>
                  <a:rPr lang="en-US" sz="800" b="1" dirty="0">
                    <a:latin typeface="Arial" panose="020B0604020202020204" pitchFamily="34" charset="0"/>
                    <a:cs typeface="Arial" panose="020B0604020202020204" pitchFamily="34" charset="0"/>
                  </a:rPr>
                  <a:t> FIT-DNU</a:t>
                </a:r>
              </a:p>
            </p:txBody>
          </p:sp>
          <p:pic>
            <p:nvPicPr>
              <p:cNvPr id="1033" name="Picture 4" descr="Github Logo - Free social media icon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1" name="Text Box 10"/>
          <p:cNvSpPr txBox="1"/>
          <p:nvPr/>
        </p:nvSpPr>
        <p:spPr>
          <a:xfrm>
            <a:off x="4083685" y="8091805"/>
            <a:ext cx="2682240" cy="1505585"/>
          </a:xfrm>
          <a:prstGeom prst="rect">
            <a:avLst/>
          </a:prstGeom>
          <a:noFill/>
        </p:spPr>
        <p:txBody>
          <a:bodyPr wrap="square" rtlCol="0">
            <a:noAutofit/>
          </a:bodyPr>
          <a:lstStyle/>
          <a:p>
            <a:pPr algn="just">
              <a:lnSpc>
                <a:spcPct val="150000"/>
              </a:lnSpc>
            </a:pPr>
            <a:r>
              <a:rPr lang="en-US" sz="900" dirty="0" err="1">
                <a:latin typeface="Times New Roman" panose="02020603050405020304" charset="0"/>
                <a:cs typeface="Times New Roman" panose="02020603050405020304" charset="0"/>
                <a:sym typeface="+mn-ea"/>
              </a:rPr>
              <a:t>Phát</a:t>
            </a:r>
            <a:r>
              <a:rPr lang="en-US" sz="900" dirty="0">
                <a:latin typeface="Times New Roman" panose="02020603050405020304" charset="0"/>
                <a:cs typeface="Times New Roman" panose="02020603050405020304" charset="0"/>
                <a:sym typeface="+mn-ea"/>
              </a:rPr>
              <a:t> </a:t>
            </a:r>
            <a:r>
              <a:rPr lang="en-US" sz="900" dirty="0" err="1">
                <a:latin typeface="Times New Roman" panose="02020603050405020304" charset="0"/>
                <a:cs typeface="Times New Roman" panose="02020603050405020304" charset="0"/>
                <a:sym typeface="+mn-ea"/>
              </a:rPr>
              <a:t>triển</a:t>
            </a:r>
            <a:r>
              <a:rPr lang="en-US" sz="900" dirty="0">
                <a:latin typeface="Times New Roman" panose="02020603050405020304" charset="0"/>
                <a:cs typeface="Times New Roman" panose="02020603050405020304" charset="0"/>
                <a:sym typeface="+mn-ea"/>
              </a:rPr>
              <a:t> </a:t>
            </a:r>
            <a:r>
              <a:rPr lang="en-US" sz="900" dirty="0" err="1">
                <a:latin typeface="Times New Roman" panose="02020603050405020304" charset="0"/>
                <a:cs typeface="Times New Roman" panose="02020603050405020304" charset="0"/>
                <a:sym typeface="+mn-ea"/>
              </a:rPr>
              <a:t>thêm</a:t>
            </a:r>
            <a:r>
              <a:rPr lang="en-US" sz="900" dirty="0">
                <a:latin typeface="Times New Roman" panose="02020603050405020304" charset="0"/>
                <a:cs typeface="Times New Roman" panose="02020603050405020304" charset="0"/>
                <a:sym typeface="+mn-ea"/>
              </a:rPr>
              <a:t> </a:t>
            </a:r>
            <a:r>
              <a:rPr lang="en-US" sz="900" dirty="0" err="1">
                <a:latin typeface="Times New Roman" panose="02020603050405020304" charset="0"/>
                <a:cs typeface="Times New Roman" panose="02020603050405020304" charset="0"/>
                <a:sym typeface="+mn-ea"/>
              </a:rPr>
              <a:t>các</a:t>
            </a:r>
            <a:r>
              <a:rPr lang="en-US" sz="900" dirty="0">
                <a:latin typeface="Times New Roman" panose="02020603050405020304" charset="0"/>
                <a:cs typeface="Times New Roman" panose="02020603050405020304" charset="0"/>
                <a:sym typeface="+mn-ea"/>
              </a:rPr>
              <a:t> </a:t>
            </a:r>
            <a:r>
              <a:rPr lang="en-US" sz="900" dirty="0" err="1">
                <a:latin typeface="Times New Roman" panose="02020603050405020304" charset="0"/>
                <a:cs typeface="Times New Roman" panose="02020603050405020304" charset="0"/>
                <a:sym typeface="+mn-ea"/>
              </a:rPr>
              <a:t>chức</a:t>
            </a:r>
            <a:r>
              <a:rPr lang="en-US" sz="900" dirty="0">
                <a:latin typeface="Times New Roman" panose="02020603050405020304" charset="0"/>
                <a:cs typeface="Times New Roman" panose="02020603050405020304" charset="0"/>
                <a:sym typeface="+mn-ea"/>
              </a:rPr>
              <a:t> </a:t>
            </a:r>
            <a:r>
              <a:rPr lang="en-US" sz="900" dirty="0" err="1">
                <a:latin typeface="Times New Roman" panose="02020603050405020304" charset="0"/>
                <a:cs typeface="Times New Roman" panose="02020603050405020304" charset="0"/>
                <a:sym typeface="+mn-ea"/>
              </a:rPr>
              <a:t>năng</a:t>
            </a:r>
            <a:r>
              <a:rPr lang="en-US" sz="900" dirty="0">
                <a:latin typeface="Times New Roman" panose="02020603050405020304" charset="0"/>
                <a:cs typeface="Times New Roman" panose="02020603050405020304" charset="0"/>
                <a:sym typeface="+mn-ea"/>
              </a:rPr>
              <a:t>:</a:t>
            </a:r>
          </a:p>
          <a:p>
            <a:pPr marL="171450" indent="-171450" algn="just">
              <a:lnSpc>
                <a:spcPct val="150000"/>
              </a:lnSpc>
              <a:buFont typeface="Arial" panose="020B0604020202020204" pitchFamily="34" charset="0"/>
              <a:buChar char="•"/>
            </a:pPr>
            <a:r>
              <a:rPr lang="en-US" altLang="en-US" sz="900" dirty="0" err="1">
                <a:latin typeface="Times New Roman" panose="02020603050405020304" charset="0"/>
                <a:cs typeface="Times New Roman" panose="02020603050405020304" charset="0"/>
              </a:rPr>
              <a:t>Mở</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rộng</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chức</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năng</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quản</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lý</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khách</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hàng</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hỗ</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trợ</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chăm</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sóc</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khách</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hàng</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và</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phân</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tích</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dữ</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liệu</a:t>
            </a:r>
            <a:r>
              <a:rPr lang="en-US" altLang="en-US" sz="900" dirty="0">
                <a:latin typeface="Times New Roman" panose="02020603050405020304" charset="0"/>
                <a:cs typeface="Times New Roman" panose="02020603050405020304" charset="0"/>
              </a:rPr>
              <a:t>.</a:t>
            </a:r>
          </a:p>
          <a:p>
            <a:pPr marL="171450" indent="-171450" algn="just">
              <a:lnSpc>
                <a:spcPct val="150000"/>
              </a:lnSpc>
              <a:buFont typeface="Arial" panose="020B0604020202020204" pitchFamily="34" charset="0"/>
              <a:buChar char="•"/>
            </a:pPr>
            <a:r>
              <a:rPr lang="en-US" altLang="en-US" sz="900" dirty="0" err="1">
                <a:latin typeface="Times New Roman" panose="02020603050405020304" charset="0"/>
                <a:cs typeface="Times New Roman" panose="02020603050405020304" charset="0"/>
              </a:rPr>
              <a:t>Nâng</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cao</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quản</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lý</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văn</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bản</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với</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chữ</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ký</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số</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phê</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duyệt</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nhiều</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cấp</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và</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quản</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lý</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phiên</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bản</a:t>
            </a:r>
            <a:r>
              <a:rPr lang="en-US" altLang="en-US" sz="900" dirty="0">
                <a:latin typeface="Times New Roman" panose="02020603050405020304" charset="0"/>
                <a:cs typeface="Times New Roman" panose="02020603050405020304" charset="0"/>
              </a:rPr>
              <a:t>.</a:t>
            </a:r>
          </a:p>
          <a:p>
            <a:pPr marL="171450" indent="-171450" algn="just">
              <a:lnSpc>
                <a:spcPct val="150000"/>
              </a:lnSpc>
              <a:buFont typeface="Arial" panose="020B0604020202020204" pitchFamily="34" charset="0"/>
              <a:buChar char="•"/>
            </a:pPr>
            <a:r>
              <a:rPr lang="en-US" altLang="en-US" sz="900" dirty="0" err="1">
                <a:latin typeface="Times New Roman" panose="02020603050405020304" charset="0"/>
                <a:cs typeface="Times New Roman" panose="02020603050405020304" charset="0"/>
              </a:rPr>
              <a:t>Phát</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triển</a:t>
            </a:r>
            <a:r>
              <a:rPr lang="en-US" altLang="en-US" sz="900" dirty="0">
                <a:latin typeface="Times New Roman" panose="02020603050405020304" charset="0"/>
                <a:cs typeface="Times New Roman" panose="02020603050405020304" charset="0"/>
              </a:rPr>
              <a:t> dashboard </a:t>
            </a:r>
            <a:r>
              <a:rPr lang="en-US" altLang="en-US" sz="900" dirty="0" err="1">
                <a:latin typeface="Times New Roman" panose="02020603050405020304" charset="0"/>
                <a:cs typeface="Times New Roman" panose="02020603050405020304" charset="0"/>
              </a:rPr>
              <a:t>thông</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minh</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cung</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cấp</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báo</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cáo</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và</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thống</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kê</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theo</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thời</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gian</a:t>
            </a:r>
            <a:r>
              <a:rPr lang="en-US" altLang="en-US" sz="900" dirty="0">
                <a:latin typeface="Times New Roman" panose="02020603050405020304" charset="0"/>
                <a:cs typeface="Times New Roman" panose="02020603050405020304" charset="0"/>
              </a:rPr>
              <a:t> </a:t>
            </a:r>
            <a:r>
              <a:rPr lang="en-US" altLang="en-US" sz="900" dirty="0" err="1">
                <a:latin typeface="Times New Roman" panose="02020603050405020304" charset="0"/>
                <a:cs typeface="Times New Roman" panose="02020603050405020304" charset="0"/>
              </a:rPr>
              <a:t>thực</a:t>
            </a:r>
            <a:r>
              <a:rPr lang="en-US" altLang="en-US" sz="900" dirty="0">
                <a:latin typeface="Times New Roman" panose="02020603050405020304" charset="0"/>
                <a:cs typeface="Times New Roman" panose="02020603050405020304" charset="0"/>
              </a:rPr>
              <a:t>.</a:t>
            </a:r>
          </a:p>
        </p:txBody>
      </p:sp>
      <p:pic>
        <p:nvPicPr>
          <p:cNvPr id="3" name="Picture 2"/>
          <p:cNvPicPr>
            <a:picLocks noChangeAspect="1"/>
          </p:cNvPicPr>
          <p:nvPr/>
        </p:nvPicPr>
        <p:blipFill>
          <a:blip r:embed="rId10"/>
          <a:stretch>
            <a:fillRect/>
          </a:stretch>
        </p:blipFill>
        <p:spPr>
          <a:xfrm>
            <a:off x="67196" y="5082272"/>
            <a:ext cx="3895090" cy="1557655"/>
          </a:xfrm>
          <a:prstGeom prst="rect">
            <a:avLst/>
          </a:prstGeom>
        </p:spPr>
      </p:pic>
      <p:pic>
        <p:nvPicPr>
          <p:cNvPr id="13" name="Picture 12"/>
          <p:cNvPicPr>
            <a:picLocks noChangeAspect="1"/>
          </p:cNvPicPr>
          <p:nvPr/>
        </p:nvPicPr>
        <p:blipFill>
          <a:blip r:embed="rId11"/>
          <a:stretch>
            <a:fillRect/>
          </a:stretch>
        </p:blipFill>
        <p:spPr>
          <a:xfrm>
            <a:off x="67196" y="6640118"/>
            <a:ext cx="3911283" cy="1608976"/>
          </a:xfrm>
          <a:prstGeom prst="rect">
            <a:avLst/>
          </a:prstGeom>
        </p:spPr>
      </p:pic>
      <p:pic>
        <p:nvPicPr>
          <p:cNvPr id="14" name="Picture 13"/>
          <p:cNvPicPr>
            <a:picLocks noChangeAspect="1"/>
          </p:cNvPicPr>
          <p:nvPr/>
        </p:nvPicPr>
        <p:blipFill>
          <a:blip r:embed="rId12"/>
          <a:stretch>
            <a:fillRect/>
          </a:stretch>
        </p:blipFill>
        <p:spPr>
          <a:xfrm>
            <a:off x="81598" y="8249095"/>
            <a:ext cx="3906520" cy="1476302"/>
          </a:xfrm>
          <a:prstGeom prst="rect">
            <a:avLst/>
          </a:prstGeom>
        </p:spPr>
      </p:pic>
      <p:pic>
        <p:nvPicPr>
          <p:cNvPr id="17" name="Picture 16"/>
          <p:cNvPicPr>
            <a:picLocks noChangeAspect="1"/>
          </p:cNvPicPr>
          <p:nvPr/>
        </p:nvPicPr>
        <p:blipFill>
          <a:blip r:embed="rId13"/>
          <a:stretch>
            <a:fillRect/>
          </a:stretch>
        </p:blipFill>
        <p:spPr>
          <a:xfrm>
            <a:off x="5952490" y="1316990"/>
            <a:ext cx="648970" cy="648970"/>
          </a:xfrm>
          <a:prstGeom prst="rect">
            <a:avLst/>
          </a:prstGeom>
        </p:spPr>
      </p:pic>
      <p:pic>
        <p:nvPicPr>
          <p:cNvPr id="18" name="Picture 17"/>
          <p:cNvPicPr>
            <a:picLocks noChangeAspect="1"/>
          </p:cNvPicPr>
          <p:nvPr/>
        </p:nvPicPr>
        <p:blipFill>
          <a:blip r:embed="rId13"/>
          <a:stretch>
            <a:fillRect/>
          </a:stretch>
        </p:blipFill>
        <p:spPr>
          <a:xfrm>
            <a:off x="4462780" y="6594475"/>
            <a:ext cx="748030" cy="748030"/>
          </a:xfrm>
          <a:prstGeom prst="rect">
            <a:avLst/>
          </a:prstGeom>
        </p:spPr>
      </p:pic>
      <p:pic>
        <p:nvPicPr>
          <p:cNvPr id="2"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83685" y="2652395"/>
            <a:ext cx="2728595" cy="15347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306*206"/>
  <p:tag name="TABLE_ENDDRAG_RECT" val="5*185*306*206"/>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306*380"/>
  <p:tag name="TABLE_ENDDRAG_RECT" val="5*407*306*380"/>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219*147"/>
  <p:tag name="TABLE_ENDDRAG_RECT" val="317*615*219*147"/>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TotalTime>
  <Words>271</Words>
  <Application>Microsoft Macintosh PowerPoint</Application>
  <PresentationFormat>A4 Paper (210x297 mm)</PresentationFormat>
  <Paragraphs>23</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Thái Khánh Nguyễn</dc:creator>
  <cp:lastModifiedBy>jinieeatme@gmail.com</cp:lastModifiedBy>
  <cp:revision>109</cp:revision>
  <dcterms:created xsi:type="dcterms:W3CDTF">2023-07-02T07:57:00Z</dcterms:created>
  <dcterms:modified xsi:type="dcterms:W3CDTF">2026-01-31T08:03:30Z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C5CFACA9E13D4782A3C12F6FF839C6D6_12</vt:lpwstr>
  </property>
  <property fmtid="{D5CDD505-2E9C-101B-9397-08002B2CF9AE}" pid="3" name="KSOProductBuildVer">
    <vt:lpwstr>1033-12.2.0.23196</vt:lpwstr>
  </property>
</Properties>
</file>